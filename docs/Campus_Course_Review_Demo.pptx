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the project: a dashboard that summarizes course reviews using NLP and ML. Built as a working local MVP with real public data across 46 universities.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pain: manual review reading is slow and patterns are hard to see. Our goal is to use NLP &amp; ML to surface insight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the product and walk through the six core features. Emphasize the goal: help students make informed decisions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pipeline left to right. Stress that it is a clean, layered architecture that already runs locally and is ready to move to the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sentiment + topic classification and confidence. Use the example: a student gets the gist in seconds instead of reading 200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 the live demo with this checklist. Have the app open at localhost:5174 and the backend running on :8080 beforehand.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what's already done (left column) versus future phases. Multi-university and LLM summaries are already working, not just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up: reinforce the value proposition and that the architecture is ready to scale to the cloud in the next phase.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22D3EE"/>
                </a:solidFill>
                <a:latin typeface="Calibri"/>
              </a:rPr>
              <a:t>NLP &amp; MACHINE LEARNING · CAPSTONE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8FAFC"/>
                </a:solidFill>
                <a:latin typeface="Calibri"/>
              </a:rPr>
              <a:t>Campus Course Review</a:t>
            </a:r>
          </a:p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8FAFC"/>
                </a:solidFill>
                <a:latin typeface="Calibri"/>
              </a:rPr>
              <a:t>Sentiment &amp; Topic 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4A3B8"/>
                </a:solidFill>
                <a:latin typeface="Calibri"/>
              </a:rPr>
              <a:t>Turning thousands of unstructured course reviews into clear, actionable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54880"/>
            <a:ext cx="2468880" cy="1005840"/>
          </a:xfrm>
          <a:prstGeom prst="roundRect">
            <a:avLst>
              <a:gd name="adj" fmla="val 12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6460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2D3EE"/>
                </a:solidFill>
                <a:latin typeface="Calibri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Universities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4754880"/>
            <a:ext cx="2468880" cy="1005840"/>
          </a:xfrm>
          <a:prstGeom prst="roundRect">
            <a:avLst>
              <a:gd name="adj" fmla="val 12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486460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2D3EE"/>
                </a:solidFill>
                <a:latin typeface="Calibri"/>
              </a:rPr>
              <a:t>~1,000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53492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Reviews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754880"/>
            <a:ext cx="2468880" cy="1005840"/>
          </a:xfrm>
          <a:prstGeom prst="roundRect">
            <a:avLst>
              <a:gd name="adj" fmla="val 12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86460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2D3EE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3492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AI summary engines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4754880"/>
            <a:ext cx="2468880" cy="1005840"/>
          </a:xfrm>
          <a:prstGeom prst="roundRect">
            <a:avLst>
              <a:gd name="adj" fmla="val 12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486460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2D3EE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53492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Local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F87171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3832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8FAFC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4480560"/>
            <a:ext cx="3108960" cy="548640"/>
          </a:xfrm>
          <a:prstGeom prst="roundRect">
            <a:avLst>
              <a:gd name="adj" fmla="val 50000"/>
            </a:avLst>
          </a:prstGeom>
          <a:solidFill>
            <a:srgbClr val="1C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535424"/>
            <a:ext cx="310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8FAFC"/>
                </a:solidFill>
                <a:latin typeface="Calibri"/>
              </a:rPr>
              <a:t>🎤  Person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9728" cy="86868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F87171"/>
                </a:solidFill>
                <a:latin typeface="Calibri"/>
              </a:rPr>
              <a:t>PERSON 1 ·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4124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8FAFC"/>
                </a:solidFill>
                <a:latin typeface="Calibri"/>
              </a:rPr>
              <a:t>Reading hundreds of reviews doesn't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94A3B8"/>
                </a:solidFill>
                <a:latin typeface="Calibri"/>
              </a:rPr>
              <a:t>“Students rely on large volumes of course reviews, but reading them manually is slow and makes trends hard to spot.”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651760"/>
            <a:ext cx="5074920" cy="1554480"/>
          </a:xfrm>
          <a:prstGeom prst="roundRect">
            <a:avLst>
              <a:gd name="adj" fmla="val 8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8FAFC"/>
                </a:solidFill>
                <a:latin typeface="Calibri"/>
              </a:rPr>
              <a:t>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907792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Calibri"/>
              </a:rPr>
              <a:t>Time-consuming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3364992"/>
            <a:ext cx="3794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Hundreds of reviews per course — hours of manual reading.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51760"/>
            <a:ext cx="5074920" cy="1554480"/>
          </a:xfrm>
          <a:prstGeom prst="roundRect">
            <a:avLst>
              <a:gd name="adj" fmla="val 8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8FAFC"/>
                </a:solidFill>
                <a:latin typeface="Calibri"/>
              </a:rPr>
              <a:t>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907792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Calibri"/>
              </a:rPr>
              <a:t>Hidden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364992"/>
            <a:ext cx="3794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Workload, grading, and exam themes are buried in free 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434840"/>
            <a:ext cx="5074920" cy="1554480"/>
          </a:xfrm>
          <a:prstGeom prst="roundRect">
            <a:avLst>
              <a:gd name="adj" fmla="val 8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66344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8FAFC"/>
                </a:solidFill>
                <a:latin typeface="Calibri"/>
              </a:rPr>
              <a:t>⚖️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690872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Calibri"/>
              </a:rPr>
              <a:t>Hard to 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5148072"/>
            <a:ext cx="3794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No easy way to weigh sentiment across courses or professors.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434840"/>
            <a:ext cx="5074920" cy="1554480"/>
          </a:xfrm>
          <a:prstGeom prst="roundRect">
            <a:avLst>
              <a:gd name="adj" fmla="val 8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66344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8FAFC"/>
                </a:solidFill>
                <a:latin typeface="Calibri"/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690872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Calibri"/>
              </a:rPr>
              <a:t>Poor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148072"/>
            <a:ext cx="3794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Students pick courses on incomplete, anecdotal information.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Campus Course Review · Sentiment &amp; Topic Explorer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22D3EE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3832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8FAFC"/>
                </a:solidFill>
                <a:latin typeface="Calibri"/>
              </a:rPr>
              <a:t>Solution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4480560"/>
            <a:ext cx="3108960" cy="548640"/>
          </a:xfrm>
          <a:prstGeom prst="roundRect">
            <a:avLst>
              <a:gd name="adj" fmla="val 50000"/>
            </a:avLst>
          </a:prstGeom>
          <a:solidFill>
            <a:srgbClr val="1C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535424"/>
            <a:ext cx="310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8FAFC"/>
                </a:solidFill>
                <a:latin typeface="Calibri"/>
              </a:rPr>
              <a:t>🎤  Person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9728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22D3EE"/>
                </a:solidFill>
                <a:latin typeface="Calibri"/>
              </a:rPr>
              <a:t>PERSON 2 ·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4124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8FAFC"/>
                </a:solidFill>
                <a:latin typeface="Calibri"/>
              </a:rPr>
              <a:t>An insight dashboard for course reviews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4A3B8"/>
                </a:solidFill>
                <a:latin typeface="Calibri"/>
              </a:rPr>
              <a:t>Browse by university → course → professor / semester / sentiment, and get a summarized view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606040"/>
            <a:ext cx="3383280" cy="1600200"/>
          </a:xfrm>
          <a:prstGeom prst="roundRect">
            <a:avLst>
              <a:gd name="adj" fmla="val 9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606040"/>
            <a:ext cx="91440" cy="1600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0720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8FAFC"/>
                </a:solidFill>
                <a:latin typeface="Calibri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8328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8FAFC"/>
                </a:solidFill>
                <a:latin typeface="Calibri"/>
              </a:rPr>
              <a:t>Sentiment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490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Positive / neutral / negative per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606040"/>
            <a:ext cx="3383280" cy="1600200"/>
          </a:xfrm>
          <a:prstGeom prst="roundRect">
            <a:avLst>
              <a:gd name="adj" fmla="val 9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606040"/>
            <a:ext cx="91440" cy="1600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80720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8FAFC"/>
                </a:solidFill>
                <a:latin typeface="Calibri"/>
              </a:rPr>
              <a:t>🏷️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38328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8FAFC"/>
                </a:solidFill>
                <a:latin typeface="Calibri"/>
              </a:rPr>
              <a:t>Topic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490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Workload, Exams, Grading, Lectures, Projects.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606040"/>
            <a:ext cx="3383280" cy="1600200"/>
          </a:xfrm>
          <a:prstGeom prst="roundRect">
            <a:avLst>
              <a:gd name="adj" fmla="val 9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2606040"/>
            <a:ext cx="91440" cy="1600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280720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8FAFC"/>
                </a:solidFill>
                <a:latin typeface="Calibri"/>
              </a:rP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38328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8FAFC"/>
                </a:solidFill>
                <a:latin typeface="Calibri"/>
              </a:rPr>
              <a:t>Insights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7490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KPIs, charts, and an AI-written summary.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389120"/>
            <a:ext cx="3383280" cy="1600200"/>
          </a:xfrm>
          <a:prstGeom prst="roundRect">
            <a:avLst>
              <a:gd name="adj" fmla="val 9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389120"/>
            <a:ext cx="91440" cy="1600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59028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8FAFC"/>
                </a:solidFill>
                <a:latin typeface="Calibri"/>
              </a:rP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16636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8FAFC"/>
                </a:solidFill>
                <a:latin typeface="Calibri"/>
              </a:rPr>
              <a:t>Review Explorer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532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Search &amp; filter individual student reviews.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389120"/>
            <a:ext cx="3383280" cy="1600200"/>
          </a:xfrm>
          <a:prstGeom prst="roundRect">
            <a:avLst>
              <a:gd name="adj" fmla="val 9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4389120"/>
            <a:ext cx="91440" cy="1600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59028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8FAFC"/>
                </a:solidFill>
                <a:latin typeface="Calibri"/>
              </a:rP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16636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8FAFC"/>
                </a:solidFill>
                <a:latin typeface="Calibri"/>
              </a:rPr>
              <a:t>AI Summaries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532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Choose OpenAI, Groq, or Ollama at runtime.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4389120"/>
            <a:ext cx="3383280" cy="1600200"/>
          </a:xfrm>
          <a:prstGeom prst="roundRect">
            <a:avLst>
              <a:gd name="adj" fmla="val 9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9560" y="4389120"/>
            <a:ext cx="91440" cy="1600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459028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8FAFC"/>
                </a:solidFill>
                <a:latin typeface="Calibri"/>
              </a:rPr>
              <a:t>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516636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8FAFC"/>
                </a:solidFill>
                <a:latin typeface="Calibri"/>
              </a:rPr>
              <a:t>Secure Submissions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5532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Firebase-authenticated review posting.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Campus Course Review · Sentiment &amp; Topic Explorer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34D399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3832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8FAFC"/>
                </a:solidFill>
                <a:latin typeface="Calibri"/>
              </a:rPr>
              <a:t>Architecture &amp;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4480560"/>
            <a:ext cx="3108960" cy="548640"/>
          </a:xfrm>
          <a:prstGeom prst="roundRect">
            <a:avLst>
              <a:gd name="adj" fmla="val 50000"/>
            </a:avLst>
          </a:prstGeom>
          <a:solidFill>
            <a:srgbClr val="1C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535424"/>
            <a:ext cx="310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8FAFC"/>
                </a:solidFill>
                <a:latin typeface="Calibri"/>
              </a:rPr>
              <a:t>🎤  Person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9728" cy="8686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34D399"/>
                </a:solidFill>
                <a:latin typeface="Calibri"/>
              </a:rPr>
              <a:t>PERSON 3 · ARCHITECTURE &amp;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4124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8FAFC"/>
                </a:solidFill>
                <a:latin typeface="Calibri"/>
              </a:rPr>
              <a:t>How data flows through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993392" cy="2011680"/>
          </a:xfrm>
          <a:prstGeom prst="roundRect">
            <a:avLst>
              <a:gd name="adj" fmla="val 8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1993392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6366F1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97180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8FAFC"/>
                </a:solidFill>
                <a:latin typeface="Calibri"/>
              </a:rPr>
              <a:t>Course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347472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RMP public sample + live user submissions</a:t>
            </a:r>
          </a:p>
        </p:txBody>
      </p:sp>
      <p:sp>
        <p:nvSpPr>
          <p:cNvPr id="10" name="Chevron 9"/>
          <p:cNvSpPr/>
          <p:nvPr/>
        </p:nvSpPr>
        <p:spPr>
          <a:xfrm>
            <a:off x="2862073" y="2926080"/>
            <a:ext cx="164592" cy="36576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26664" y="2103120"/>
            <a:ext cx="1993392" cy="2011680"/>
          </a:xfrm>
          <a:prstGeom prst="roundRect">
            <a:avLst>
              <a:gd name="adj" fmla="val 8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26664" y="2103120"/>
            <a:ext cx="1993392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4" y="2423160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1256" y="297180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8FAFC"/>
                </a:solidFill>
                <a:latin typeface="Calibri"/>
              </a:rPr>
              <a:t>Data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6" y="347472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Import, clean, normalize → SQLite</a:t>
            </a:r>
          </a:p>
        </p:txBody>
      </p:sp>
      <p:sp>
        <p:nvSpPr>
          <p:cNvPr id="16" name="Chevron 15"/>
          <p:cNvSpPr/>
          <p:nvPr/>
        </p:nvSpPr>
        <p:spPr>
          <a:xfrm>
            <a:off x="5020057" y="2926080"/>
            <a:ext cx="164592" cy="36576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84648" y="2103120"/>
            <a:ext cx="1993392" cy="2011680"/>
          </a:xfrm>
          <a:prstGeom prst="roundRect">
            <a:avLst>
              <a:gd name="adj" fmla="val 8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84648" y="2103120"/>
            <a:ext cx="1993392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4648" y="2423160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34D399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97180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8FAFC"/>
                </a:solidFill>
                <a:latin typeface="Calibri"/>
              </a:rPr>
              <a:t>NLP &amp; Sentiment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347472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Keyword model (bulk) + LLM (live)</a:t>
            </a:r>
          </a:p>
        </p:txBody>
      </p:sp>
      <p:sp>
        <p:nvSpPr>
          <p:cNvPr id="22" name="Chevron 21"/>
          <p:cNvSpPr/>
          <p:nvPr/>
        </p:nvSpPr>
        <p:spPr>
          <a:xfrm>
            <a:off x="7178041" y="2926080"/>
            <a:ext cx="164592" cy="36576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42632" y="2103120"/>
            <a:ext cx="1993392" cy="2011680"/>
          </a:xfrm>
          <a:prstGeom prst="roundRect">
            <a:avLst>
              <a:gd name="adj" fmla="val 8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42632" y="2103120"/>
            <a:ext cx="1993392" cy="1097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2632" y="2423160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BBF24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4" y="297180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8FAFC"/>
                </a:solidFill>
                <a:latin typeface="Calibri"/>
              </a:rPr>
              <a:t>Topic Extraction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7224" y="347472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RMP tags + AI / keyword labels</a:t>
            </a:r>
          </a:p>
        </p:txBody>
      </p:sp>
      <p:sp>
        <p:nvSpPr>
          <p:cNvPr id="28" name="Chevron 27"/>
          <p:cNvSpPr/>
          <p:nvPr/>
        </p:nvSpPr>
        <p:spPr>
          <a:xfrm>
            <a:off x="9336025" y="2926080"/>
            <a:ext cx="164592" cy="36576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00616" y="2103120"/>
            <a:ext cx="1993392" cy="2011680"/>
          </a:xfrm>
          <a:prstGeom prst="roundRect">
            <a:avLst>
              <a:gd name="adj" fmla="val 8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0616" y="2103120"/>
            <a:ext cx="1993392" cy="109728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0616" y="2423160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818CF8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5208" y="297180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8FAFC"/>
                </a:solidFill>
                <a:latin typeface="Calibri"/>
              </a:rPr>
              <a:t>Interactive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5208" y="347472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React UI ← FastAPI REST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4805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94A3B8"/>
                </a:solidFill>
                <a:latin typeface="Calibri"/>
              </a:rPr>
              <a:t>Current phase: runs fully locally on real public data — no cloud dependency required.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074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D3EE"/>
                </a:solidFill>
                <a:latin typeface="Calibri"/>
              </a:rPr>
              <a:t>TECH STACK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5440680"/>
            <a:ext cx="2372868" cy="502920"/>
          </a:xfrm>
          <a:prstGeom prst="roundRect">
            <a:avLst>
              <a:gd name="adj" fmla="val 50000"/>
            </a:avLst>
          </a:prstGeom>
          <a:solidFill>
            <a:srgbClr val="1C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522976"/>
            <a:ext cx="23728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8FAFC"/>
                </a:solidFill>
                <a:latin typeface="Calibri"/>
              </a:rPr>
              <a:t>React + Vite + Tailwind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24428" y="5440680"/>
            <a:ext cx="2084832" cy="502920"/>
          </a:xfrm>
          <a:prstGeom prst="roundRect">
            <a:avLst>
              <a:gd name="adj" fmla="val 50000"/>
            </a:avLst>
          </a:prstGeom>
          <a:solidFill>
            <a:srgbClr val="1C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4428" y="5522976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8FAFC"/>
                </a:solidFill>
                <a:latin typeface="Calibri"/>
              </a:rPr>
              <a:t>FastAPI + SQLAlchemy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92140" y="5440680"/>
            <a:ext cx="1796795" cy="502920"/>
          </a:xfrm>
          <a:prstGeom prst="roundRect">
            <a:avLst>
              <a:gd name="adj" fmla="val 50000"/>
            </a:avLst>
          </a:prstGeom>
          <a:solidFill>
            <a:srgbClr val="1C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92140" y="5522976"/>
            <a:ext cx="17967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8FAFC"/>
                </a:solidFill>
                <a:latin typeface="Calibri"/>
              </a:rPr>
              <a:t>SQLite / Postgres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71815" y="5440680"/>
            <a:ext cx="1412748" cy="502920"/>
          </a:xfrm>
          <a:prstGeom prst="roundRect">
            <a:avLst>
              <a:gd name="adj" fmla="val 50000"/>
            </a:avLst>
          </a:prstGeom>
          <a:solidFill>
            <a:srgbClr val="1C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71815" y="5522976"/>
            <a:ext cx="14127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8FAFC"/>
                </a:solidFill>
                <a:latin typeface="Calibri"/>
              </a:rPr>
              <a:t>Firebase Auth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67443" y="5440680"/>
            <a:ext cx="2276856" cy="502920"/>
          </a:xfrm>
          <a:prstGeom prst="roundRect">
            <a:avLst>
              <a:gd name="adj" fmla="val 50000"/>
            </a:avLst>
          </a:prstGeom>
          <a:solidFill>
            <a:srgbClr val="1C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67443" y="5522976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8FAFC"/>
                </a:solidFill>
                <a:latin typeface="Calibri"/>
              </a:rPr>
              <a:t>OpenAI · Groq · Ollama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Campus Course Review · Sentiment &amp; Topic Explorer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FBBF24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3832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8FAFC"/>
                </a:solidFill>
                <a:latin typeface="Calibri"/>
              </a:rPr>
              <a:t>Machine Learning &amp;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4480560"/>
            <a:ext cx="3108960" cy="548640"/>
          </a:xfrm>
          <a:prstGeom prst="roundRect">
            <a:avLst>
              <a:gd name="adj" fmla="val 50000"/>
            </a:avLst>
          </a:prstGeom>
          <a:solidFill>
            <a:srgbClr val="1C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535424"/>
            <a:ext cx="310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8FAFC"/>
                </a:solidFill>
                <a:latin typeface="Calibri"/>
              </a:rPr>
              <a:t>🎤  Person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9728" cy="8686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FBBF24"/>
                </a:solidFill>
                <a:latin typeface="Calibri"/>
              </a:rPr>
              <a:t>PERSON 4 · MACHINE LEARNING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4124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8FAFC"/>
                </a:solidFill>
                <a:latin typeface="Calibri"/>
              </a:rPr>
              <a:t>From raw text to classified insight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Calibri"/>
              </a:rPr>
              <a:t>How the ML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4937760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22D3EE"/>
                </a:solidFill>
              </a:rPr>
              <a:t>▸  </a:t>
            </a:r>
            <a:r>
              <a:rPr sz="1400">
                <a:solidFill>
                  <a:srgbClr val="F8FAFC"/>
                </a:solidFill>
                <a:latin typeface="Calibri"/>
              </a:rPr>
              <a:t>Bulk import: fast keyword sentiment + RMP topic tags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22D3EE"/>
                </a:solidFill>
              </a:rPr>
              <a:t>▸  </a:t>
            </a:r>
            <a:r>
              <a:rPr sz="1400">
                <a:solidFill>
                  <a:srgbClr val="F8FAFC"/>
                </a:solidFill>
                <a:latin typeface="Calibri"/>
              </a:rPr>
              <a:t>Live reviews: one AI call → sentiment + topics together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22D3EE"/>
                </a:solidFill>
              </a:rPr>
              <a:t>▸  </a:t>
            </a:r>
            <a:r>
              <a:rPr sz="1400">
                <a:solidFill>
                  <a:srgbClr val="F8FAFC"/>
                </a:solidFill>
                <a:latin typeface="Calibri"/>
              </a:rPr>
              <a:t>Summaries: selectable engine (OpenAI / Groq / Ollama / template)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22D3EE"/>
                </a:solidFill>
              </a:rPr>
              <a:t>▸  </a:t>
            </a:r>
            <a:r>
              <a:rPr sz="1400">
                <a:solidFill>
                  <a:srgbClr val="F8FAFC"/>
                </a:solidFill>
                <a:latin typeface="Calibri"/>
              </a:rPr>
              <a:t>Dashboard aggregates topic counts and sentiment %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22D3EE"/>
                </a:solidFill>
              </a:rPr>
              <a:t>▸  </a:t>
            </a:r>
            <a:r>
              <a:rPr sz="1400">
                <a:solidFill>
                  <a:srgbClr val="F8FAFC"/>
                </a:solidFill>
                <a:latin typeface="Calibri"/>
              </a:rPr>
              <a:t>Cross-university topic analytics (BigQuery-ready)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783080"/>
            <a:ext cx="4709160" cy="1828800"/>
          </a:xfrm>
          <a:prstGeom prst="roundRect">
            <a:avLst>
              <a:gd name="adj" fmla="val 6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9385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8FAFC"/>
                </a:solidFill>
                <a:latin typeface="Calibri"/>
              </a:rPr>
              <a:t>Sentiment classes</a:t>
            </a:r>
          </a:p>
        </p:txBody>
      </p:sp>
      <p:sp>
        <p:nvSpPr>
          <p:cNvPr id="10" name="Oval 9"/>
          <p:cNvSpPr/>
          <p:nvPr/>
        </p:nvSpPr>
        <p:spPr>
          <a:xfrm>
            <a:off x="6812280" y="2514600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59752" y="247802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8FAFC"/>
                </a:solidFill>
                <a:latin typeface="Calibri"/>
              </a:rPr>
              <a:t>Positive</a:t>
            </a:r>
          </a:p>
        </p:txBody>
      </p:sp>
      <p:sp>
        <p:nvSpPr>
          <p:cNvPr id="12" name="Oval 11"/>
          <p:cNvSpPr/>
          <p:nvPr/>
        </p:nvSpPr>
        <p:spPr>
          <a:xfrm>
            <a:off x="8275320" y="2514600"/>
            <a:ext cx="256032" cy="25603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2" y="247802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8FAFC"/>
                </a:solidFill>
                <a:latin typeface="Calibri"/>
              </a:rPr>
              <a:t>Neutral</a:t>
            </a:r>
          </a:p>
        </p:txBody>
      </p:sp>
      <p:sp>
        <p:nvSpPr>
          <p:cNvPr id="14" name="Oval 13"/>
          <p:cNvSpPr/>
          <p:nvPr/>
        </p:nvSpPr>
        <p:spPr>
          <a:xfrm>
            <a:off x="9738360" y="2514600"/>
            <a:ext cx="256032" cy="25603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85832" y="247802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8FAFC"/>
                </a:solidFill>
                <a:latin typeface="Calibri"/>
              </a:rPr>
              <a:t>Negative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97180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Each review → label + confidence + up to 3 topics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749039"/>
            <a:ext cx="4709160" cy="2057400"/>
          </a:xfrm>
          <a:prstGeom prst="roundRect">
            <a:avLst>
              <a:gd name="adj" fmla="val 6000"/>
            </a:avLst>
          </a:prstGeom>
          <a:solidFill>
            <a:srgbClr val="1C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391363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D3EE"/>
                </a:solidFill>
                <a:latin typeface="Calibri"/>
              </a:rPr>
              <a:t>💡  Example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370832"/>
            <a:ext cx="4297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8FAFC"/>
                </a:solidFill>
                <a:latin typeface="Calibri"/>
              </a:rPr>
              <a:t>Instead of reading 200 reviews, a student instantly sees: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8FAFC"/>
                </a:solidFill>
                <a:latin typeface="Calibri"/>
              </a:rPr>
              <a:t>“Highly rated, but heavy workload and project-intensive.”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Campus Course Review · Sentiment &amp; Topic Explorer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818CF8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3832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8FAFC"/>
                </a:solidFill>
                <a:latin typeface="Calibri"/>
              </a:rPr>
              <a:t>Live Demo &amp;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4480560"/>
            <a:ext cx="3108960" cy="548640"/>
          </a:xfrm>
          <a:prstGeom prst="roundRect">
            <a:avLst>
              <a:gd name="adj" fmla="val 50000"/>
            </a:avLst>
          </a:prstGeom>
          <a:solidFill>
            <a:srgbClr val="1C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535424"/>
            <a:ext cx="310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8FAFC"/>
                </a:solidFill>
                <a:latin typeface="Calibri"/>
              </a:rPr>
              <a:t>🎤  Person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9728" cy="86868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818CF8"/>
                </a:solidFill>
                <a:latin typeface="Calibri"/>
              </a:rPr>
              <a:t>PERSON 5 ·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4124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8FAFC"/>
                </a:solidFill>
                <a:latin typeface="Calibri"/>
              </a:rPr>
              <a:t>Five minutes, end to end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874519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92807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874519"/>
            <a:ext cx="6583680" cy="502920"/>
          </a:xfrm>
          <a:prstGeom prst="roundRect">
            <a:avLst>
              <a:gd name="adj" fmla="val 20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892807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8FAFC"/>
                </a:solidFill>
                <a:latin typeface="Calibri"/>
              </a:rPr>
              <a:t>Search a university (e.g. UIUC, Brooklyn College)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532887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51175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2532887"/>
            <a:ext cx="6583680" cy="502920"/>
          </a:xfrm>
          <a:prstGeom prst="roundRect">
            <a:avLst>
              <a:gd name="adj" fmla="val 20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2551175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8FAFC"/>
                </a:solidFill>
                <a:latin typeface="Calibri"/>
              </a:rPr>
              <a:t>Open a course dashboard (e.g. ASTR)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191255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09543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3191255"/>
            <a:ext cx="6583680" cy="502920"/>
          </a:xfrm>
          <a:prstGeom prst="roundRect">
            <a:avLst>
              <a:gd name="adj" fmla="val 20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3209543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8FAFC"/>
                </a:solidFill>
                <a:latin typeface="Calibri"/>
              </a:rPr>
              <a:t>Review KPIs, sentiment pie &amp; topic distribution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849623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67911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3849623"/>
            <a:ext cx="6583680" cy="502920"/>
          </a:xfrm>
          <a:prstGeom prst="roundRect">
            <a:avLst>
              <a:gd name="adj" fmla="val 20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3867911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8FAFC"/>
                </a:solidFill>
                <a:latin typeface="Calibri"/>
              </a:rPr>
              <a:t>Switch AI summary model (OpenAI / Groq) → regenerate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507991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26279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Calibri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4507991"/>
            <a:ext cx="6583680" cy="502920"/>
          </a:xfrm>
          <a:prstGeom prst="roundRect">
            <a:avLst>
              <a:gd name="adj" fmla="val 20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4526279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8FAFC"/>
                </a:solidFill>
                <a:latin typeface="Calibri"/>
              </a:rPr>
              <a:t>Filter reviews by sentiment / professor / semester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5166359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184647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Calibri"/>
              </a:rPr>
              <a:t>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54480" y="5166359"/>
            <a:ext cx="6583680" cy="502920"/>
          </a:xfrm>
          <a:prstGeom prst="roundRect">
            <a:avLst>
              <a:gd name="adj" fmla="val 20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83080" y="5184647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8FAFC"/>
                </a:solidFill>
                <a:latin typeface="Calibri"/>
              </a:rPr>
              <a:t>Sign in → submit a review → watch AI analyze it live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1874519"/>
            <a:ext cx="2880360" cy="2194560"/>
          </a:xfrm>
          <a:prstGeom prst="roundRect">
            <a:avLst>
              <a:gd name="adj" fmla="val 8000"/>
            </a:avLst>
          </a:prstGeom>
          <a:solidFill>
            <a:srgbClr val="1C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20574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D3EE"/>
                </a:solidFill>
                <a:latin typeface="Calibri"/>
              </a:rPr>
              <a:t>RUN LOCALLY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2560320"/>
            <a:ext cx="2468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8FAFC"/>
                </a:solidFill>
                <a:latin typeface="Calibri"/>
              </a:rPr>
              <a:t>Frontend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8FAFC"/>
                </a:solidFill>
                <a:latin typeface="Calibri"/>
              </a:rPr>
              <a:t>:5174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8FAFC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8FAFC"/>
                </a:solidFill>
                <a:latin typeface="Calibri"/>
              </a:rPr>
              <a:t>Backend API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8FAFC"/>
                </a:solidFill>
                <a:latin typeface="Calibri"/>
              </a:rPr>
              <a:t>:8080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Campus Course Review · Sentiment &amp; Topic Explorer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9728" cy="8686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34D399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4124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8FAFC"/>
                </a:solidFill>
                <a:latin typeface="Calibri"/>
              </a:rPr>
              <a:t>Built today, scaling tomorrow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920240"/>
            <a:ext cx="2606040" cy="6400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75688"/>
            <a:ext cx="2240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120"/>
                </a:solidFill>
                <a:latin typeface="Calibri"/>
              </a:rPr>
              <a:t>✅ In the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194560" cy="2651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34D399"/>
                </a:solidFill>
              </a:rPr>
              <a:t>▸  </a:t>
            </a:r>
            <a:r>
              <a:rPr sz="1250">
                <a:solidFill>
                  <a:srgbClr val="F8FAFC"/>
                </a:solidFill>
                <a:latin typeface="Calibri"/>
              </a:rPr>
              <a:t>Multi-university (46 schools)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34D399"/>
                </a:solidFill>
              </a:rPr>
              <a:t>▸  </a:t>
            </a:r>
            <a:r>
              <a:rPr sz="1250">
                <a:solidFill>
                  <a:srgbClr val="F8FAFC"/>
                </a:solidFill>
                <a:latin typeface="Calibri"/>
              </a:rPr>
              <a:t>Sentiment + topic extraction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34D399"/>
                </a:solidFill>
              </a:rPr>
              <a:t>▸  </a:t>
            </a:r>
            <a:r>
              <a:rPr sz="1250">
                <a:solidFill>
                  <a:srgbClr val="F8FAFC"/>
                </a:solidFill>
                <a:latin typeface="Calibri"/>
              </a:rPr>
              <a:t>LLM summaries (OpenAI/Groq/Ollama)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34D399"/>
                </a:solidFill>
              </a:rPr>
              <a:t>▸  </a:t>
            </a:r>
            <a:r>
              <a:rPr sz="1250">
                <a:solidFill>
                  <a:srgbClr val="F8FAFC"/>
                </a:solidFill>
                <a:latin typeface="Calibri"/>
              </a:rPr>
              <a:t>Cross-university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2" y="19202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93592" y="1920240"/>
            <a:ext cx="2606040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2075688"/>
            <a:ext cx="2240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120"/>
                </a:solidFill>
                <a:latin typeface="Calibri"/>
              </a:rPr>
              <a:t>Phase 2 ·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2" y="2743200"/>
            <a:ext cx="2194560" cy="2651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22D3EE"/>
                </a:solidFill>
              </a:rPr>
              <a:t>▸  </a:t>
            </a:r>
            <a:r>
              <a:rPr sz="1250">
                <a:solidFill>
                  <a:srgbClr val="F8FAFC"/>
                </a:solidFill>
                <a:latin typeface="Calibri"/>
              </a:rPr>
              <a:t>Deploy to GCP / AWS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22D3EE"/>
                </a:solidFill>
              </a:rPr>
              <a:t>▸  </a:t>
            </a:r>
            <a:r>
              <a:rPr sz="1250">
                <a:solidFill>
                  <a:srgbClr val="F8FAFC"/>
                </a:solidFill>
                <a:latin typeface="Calibri"/>
              </a:rPr>
              <a:t>Public web access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22D3EE"/>
                </a:solidFill>
              </a:rPr>
              <a:t>▸  </a:t>
            </a:r>
            <a:r>
              <a:rPr sz="1250">
                <a:solidFill>
                  <a:srgbClr val="F8FAFC"/>
                </a:solidFill>
                <a:latin typeface="Calibri"/>
              </a:rPr>
              <a:t>Vertex AI / Gemini option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22D3EE"/>
                </a:solidFill>
              </a:rPr>
              <a:t>▸  </a:t>
            </a:r>
            <a:r>
              <a:rPr sz="1250">
                <a:solidFill>
                  <a:srgbClr val="F8FAFC"/>
                </a:solidFill>
                <a:latin typeface="Calibri"/>
              </a:rPr>
              <a:t>Managed Postgres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9202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8504" y="1920240"/>
            <a:ext cx="2606040" cy="6400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2075688"/>
            <a:ext cx="2240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120"/>
                </a:solidFill>
                <a:latin typeface="Calibri"/>
              </a:rPr>
              <a:t>Phase 3 ·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743200"/>
            <a:ext cx="2194560" cy="2651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FBBF24"/>
                </a:solidFill>
              </a:rPr>
              <a:t>▸  </a:t>
            </a:r>
            <a:r>
              <a:rPr sz="1250">
                <a:solidFill>
                  <a:srgbClr val="F8FAFC"/>
                </a:solidFill>
                <a:latin typeface="Calibri"/>
              </a:rPr>
              <a:t>Larger datasets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FBBF24"/>
                </a:solidFill>
              </a:rPr>
              <a:t>▸  </a:t>
            </a:r>
            <a:r>
              <a:rPr sz="1250">
                <a:solidFill>
                  <a:srgbClr val="F8FAFC"/>
                </a:solidFill>
                <a:latin typeface="Calibri"/>
              </a:rPr>
              <a:t>Scheduled re-imports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FBBF24"/>
                </a:solidFill>
              </a:rPr>
              <a:t>▸  </a:t>
            </a:r>
            <a:r>
              <a:rPr sz="1250">
                <a:solidFill>
                  <a:srgbClr val="F8FAFC"/>
                </a:solidFill>
                <a:latin typeface="Calibri"/>
              </a:rPr>
              <a:t>Performance tuning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FBBF24"/>
                </a:solidFill>
              </a:rPr>
              <a:t>▸  </a:t>
            </a:r>
            <a:r>
              <a:rPr sz="1250">
                <a:solidFill>
                  <a:srgbClr val="F8FAFC"/>
                </a:solidFill>
                <a:latin typeface="Calibri"/>
              </a:rPr>
              <a:t>Caching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19202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5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43416" y="1920240"/>
            <a:ext cx="2606040" cy="64008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2075688"/>
            <a:ext cx="2240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120"/>
                </a:solidFill>
                <a:latin typeface="Calibri"/>
              </a:rPr>
              <a:t>Phase 4 ·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2743200"/>
            <a:ext cx="2194560" cy="2651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818CF8"/>
                </a:solidFill>
              </a:rPr>
              <a:t>▸  </a:t>
            </a:r>
            <a:r>
              <a:rPr sz="1250">
                <a:solidFill>
                  <a:srgbClr val="F8FAFC"/>
                </a:solidFill>
                <a:latin typeface="Calibri"/>
              </a:rPr>
              <a:t>Course recommender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818CF8"/>
                </a:solidFill>
              </a:rPr>
              <a:t>▸  </a:t>
            </a:r>
            <a:r>
              <a:rPr sz="1250">
                <a:solidFill>
                  <a:srgbClr val="F8FAFC"/>
                </a:solidFill>
                <a:latin typeface="Calibri"/>
              </a:rPr>
              <a:t>Professor comparison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818CF8"/>
                </a:solidFill>
              </a:rPr>
              <a:t>▸  </a:t>
            </a:r>
            <a:r>
              <a:rPr sz="1250">
                <a:solidFill>
                  <a:srgbClr val="F8FAFC"/>
                </a:solidFill>
                <a:latin typeface="Calibri"/>
              </a:rPr>
              <a:t>Trend forecasting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818CF8"/>
                </a:solidFill>
              </a:rPr>
              <a:t>▸  </a:t>
            </a:r>
            <a:r>
              <a:rPr sz="1250">
                <a:solidFill>
                  <a:srgbClr val="F8FAFC"/>
                </a:solidFill>
                <a:latin typeface="Calibri"/>
              </a:rPr>
              <a:t>Mobile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Campus Course Review · Sentiment &amp; Topic Explorer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22D3EE"/>
                </a:solidFill>
                <a:latin typeface="Calibri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8FAFC"/>
                </a:solidFill>
                <a:latin typeface="Calibri"/>
              </a:rPr>
              <a:t>From unstructured feedback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8FAFC"/>
                </a:solidFill>
                <a:latin typeface="Calibri"/>
              </a:rPr>
              <a:t>to meaningful insight.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4A3B8"/>
                </a:solidFill>
                <a:latin typeface="Calibri"/>
              </a:rPr>
              <a:t>A locally hosted prototype with a production-ready, cloud-scalable architecture — showing how ML &amp; NLP turn student feedback into better academic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394960"/>
            <a:ext cx="2743200" cy="640080"/>
          </a:xfrm>
          <a:prstGeom prst="roundRect">
            <a:avLst>
              <a:gd name="adj" fmla="val 3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8FAFC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